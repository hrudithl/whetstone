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31720"/>
            <a:ext cx="1280160" cy="109728"/>
          </a:xfrm>
          <a:prstGeom prst="rect">
            <a:avLst/>
          </a:prstGeom>
          <a:solidFill>
            <a:srgbClr val="F2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1">
                <a:solidFill>
                  <a:srgbClr val="E8ECF1"/>
                </a:solidFill>
                <a:latin typeface="Arial"/>
              </a:rPr>
              <a:t>Marrow</a:t>
            </a:r>
          </a:p>
          <a:p>
            <a:pPr algn="l">
              <a:spcBef>
                <a:spcPts val="1400"/>
              </a:spcBef>
            </a:pPr>
            <a:r>
              <a:rPr sz="3000" b="0">
                <a:solidFill>
                  <a:srgbClr val="9AA6B2"/>
                </a:solidFill>
                <a:latin typeface="Arial"/>
              </a:rPr>
              <a:t>Know what your tests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05840"/>
            <a:ext cx="822960" cy="82296"/>
          </a:xfrm>
          <a:prstGeom prst="rect">
            <a:avLst/>
          </a:prstGeom>
          <a:solidFill>
            <a:srgbClr val="F2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ECF1"/>
                </a:solidFill>
                <a:latin typeface="Arial"/>
              </a:rPr>
              <a:t>Big test suites hide their gaps.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9875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F26B3A"/>
                </a:solidFill>
                <a:latin typeface="Arial"/>
              </a:rPr>
              <a:t>—  </a:t>
            </a:r>
            <a:r>
              <a:rPr sz="2600">
                <a:solidFill>
                  <a:srgbClr val="E8ECF1"/>
                </a:solidFill>
                <a:latin typeface="Arial"/>
              </a:rPr>
              <a:t>Large suites are slow to run.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F26B3A"/>
                </a:solidFill>
                <a:latin typeface="Arial"/>
              </a:rPr>
              <a:t>—  </a:t>
            </a:r>
            <a:r>
              <a:rPr sz="2600">
                <a:solidFill>
                  <a:srgbClr val="E8ECF1"/>
                </a:solidFill>
                <a:latin typeface="Arial"/>
              </a:rPr>
              <a:t>Nobody knows which tests cover which code.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F26B3A"/>
                </a:solidFill>
                <a:latin typeface="Arial"/>
              </a:rPr>
              <a:t>—  </a:t>
            </a:r>
            <a:r>
              <a:rPr sz="2600">
                <a:solidFill>
                  <a:srgbClr val="E8ECF1"/>
                </a:solidFill>
                <a:latin typeface="Arial"/>
              </a:rPr>
              <a:t>Dead tests linger, and real gaps go unnoticed.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05840"/>
            <a:ext cx="822960" cy="82296"/>
          </a:xfrm>
          <a:prstGeom prst="rect">
            <a:avLst/>
          </a:prstGeom>
          <a:solidFill>
            <a:srgbClr val="F2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>
                <a:solidFill>
                  <a:srgbClr val="E8ECF1"/>
                </a:solidFill>
                <a:latin typeface="Arial"/>
              </a:rPr>
              <a:t>Watch one run.</a:t>
            </a:r>
          </a:p>
          <a:p>
            <a:pPr algn="l"/>
            <a:r>
              <a:rPr sz="5200" b="1">
                <a:solidFill>
                  <a:srgbClr val="F26B3A"/>
                </a:solidFill>
                <a:latin typeface="Arial"/>
              </a:rPr>
              <a:t>Draw the real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692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E8ECF1"/>
                </a:solidFill>
                <a:latin typeface="Arial"/>
              </a:rPr>
              <a:t>Marrow instruments a single test run and produces a test → code coverage map.</a:t>
            </a:r>
          </a:p>
          <a:p>
            <a:pPr algn="l"/>
            <a:r>
              <a:rPr sz="2400" b="0">
                <a:solidFill>
                  <a:srgbClr val="9AA6B2"/>
                </a:solidFill>
                <a:latin typeface="Arial"/>
              </a:rPr>
              <a:t>No annotations. No config.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05840"/>
            <a:ext cx="822960" cy="82296"/>
          </a:xfrm>
          <a:prstGeom prst="rect">
            <a:avLst/>
          </a:prstGeom>
          <a:solidFill>
            <a:srgbClr val="F2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ECF1"/>
                </a:solidFill>
                <a:latin typeface="Arial"/>
              </a:rP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91840" cy="2743200"/>
          </a:xfrm>
          <a:prstGeom prst="roundRect">
            <a:avLst/>
          </a:prstGeom>
          <a:solidFill>
            <a:srgbClr val="1B222B"/>
          </a:solidFill>
          <a:ln w="12700">
            <a:solidFill>
              <a:srgbClr val="F2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3108960"/>
            <a:ext cx="2651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6B3A"/>
                </a:solidFill>
                <a:latin typeface="Arial"/>
              </a:rPr>
              <a:t>1</a:t>
            </a:r>
          </a:p>
          <a:p>
            <a:pPr algn="l">
              <a:spcAft>
                <a:spcPts val="1200"/>
              </a:spcAft>
            </a:pPr>
            <a:r>
              <a:rPr sz="2400" b="1">
                <a:solidFill>
                  <a:srgbClr val="E8ECF1"/>
                </a:solidFill>
                <a:latin typeface="Arial"/>
              </a:rPr>
              <a:t>Run</a:t>
            </a:r>
          </a:p>
          <a:p>
            <a:pPr algn="l"/>
            <a:r>
              <a:rPr sz="1600" b="0">
                <a:solidFill>
                  <a:srgbClr val="E8ECF1"/>
                </a:solidFill>
                <a:latin typeface="Courier New"/>
              </a:rPr>
              <a:t>marrow watch -- &lt;your test cmd&gt;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834640"/>
            <a:ext cx="3291840" cy="2743200"/>
          </a:xfrm>
          <a:prstGeom prst="roundRect">
            <a:avLst/>
          </a:prstGeom>
          <a:solidFill>
            <a:srgbClr val="1B222B"/>
          </a:solidFill>
          <a:ln w="12700">
            <a:solidFill>
              <a:srgbClr val="F2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3108960"/>
            <a:ext cx="2651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6B3A"/>
                </a:solidFill>
                <a:latin typeface="Arial"/>
              </a:rPr>
              <a:t>2</a:t>
            </a:r>
          </a:p>
          <a:p>
            <a:pPr algn="l">
              <a:spcAft>
                <a:spcPts val="1200"/>
              </a:spcAft>
            </a:pPr>
            <a:r>
              <a:rPr sz="2400" b="1">
                <a:solidFill>
                  <a:srgbClr val="E8ECF1"/>
                </a:solidFill>
                <a:latin typeface="Arial"/>
              </a:rPr>
              <a:t>Record</a:t>
            </a:r>
          </a:p>
          <a:p>
            <a:pPr algn="l"/>
            <a:r>
              <a:rPr sz="1800" b="0">
                <a:solidFill>
                  <a:srgbClr val="9AA6B2"/>
                </a:solidFill>
                <a:latin typeface="Arial"/>
              </a:rPr>
              <a:t>Marrow records which lines each test exercised.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834640"/>
            <a:ext cx="3291840" cy="2743200"/>
          </a:xfrm>
          <a:prstGeom prst="roundRect">
            <a:avLst/>
          </a:prstGeom>
          <a:solidFill>
            <a:srgbClr val="1B222B"/>
          </a:solidFill>
          <a:ln w="12700">
            <a:solidFill>
              <a:srgbClr val="F2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108960"/>
            <a:ext cx="2651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6B3A"/>
                </a:solidFill>
                <a:latin typeface="Arial"/>
              </a:rPr>
              <a:t>3</a:t>
            </a:r>
          </a:p>
          <a:p>
            <a:pPr algn="l">
              <a:spcAft>
                <a:spcPts val="1200"/>
              </a:spcAft>
            </a:pPr>
            <a:r>
              <a:rPr sz="2400" b="1">
                <a:solidFill>
                  <a:srgbClr val="E8ECF1"/>
                </a:solidFill>
                <a:latin typeface="Arial"/>
              </a:rPr>
              <a:t>Map</a:t>
            </a:r>
          </a:p>
          <a:p>
            <a:pPr algn="l"/>
            <a:r>
              <a:rPr sz="1800" b="0">
                <a:solidFill>
                  <a:srgbClr val="9AA6B2"/>
                </a:solidFill>
                <a:latin typeface="Arial"/>
              </a:rPr>
              <a:t>It emits an interactive map plus a list of dead tests and untested 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48840"/>
            <a:ext cx="1280160" cy="109728"/>
          </a:xfrm>
          <a:prstGeom prst="rect">
            <a:avLst/>
          </a:prstGeom>
          <a:solidFill>
            <a:srgbClr val="F2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E8ECF1"/>
                </a:solidFill>
                <a:latin typeface="Arial"/>
              </a:rPr>
              <a:t>Install Marrow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611880"/>
            <a:ext cx="4754880" cy="868680"/>
          </a:xfrm>
          <a:prstGeom prst="roundRect">
            <a:avLst/>
          </a:prstGeom>
          <a:solidFill>
            <a:srgbClr val="1B222B"/>
          </a:solidFill>
          <a:ln w="12700">
            <a:solidFill>
              <a:srgbClr val="F2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/>
            <a:r>
              <a:rPr sz="2800" b="0">
                <a:solidFill>
                  <a:srgbClr val="E8ECF1"/>
                </a:solidFill>
                <a:latin typeface="Courier New"/>
              </a:rPr>
              <a:t>pipx install marrow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9AA6B2"/>
                </a:solidFill>
                <a:latin typeface="Arial"/>
              </a:rPr>
              <a:t>Works with pytest, Jest, go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