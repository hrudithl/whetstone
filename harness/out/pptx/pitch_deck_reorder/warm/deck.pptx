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1A1A1A"/>
                </a:solidFill>
                <a:latin typeface="Helvetica Neue"/>
              </a:rPr>
              <a:t>Marrow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90007" y="3794760"/>
            <a:ext cx="2011680" cy="63500"/>
          </a:xfrm>
          <a:prstGeom prst="rect">
            <a:avLst/>
          </a:prstGeom>
          <a:solidFill>
            <a:srgbClr val="0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206240"/>
            <a:ext cx="101800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F5C57"/>
                </a:solidFill>
                <a:latin typeface="Helvetica Neue"/>
              </a:rPr>
              <a:t>Know what your tests actually cover.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800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Helvetica Neue"/>
              </a:rPr>
              <a:t>Install Marrow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4327" y="1874519"/>
            <a:ext cx="1463040" cy="63500"/>
          </a:xfrm>
          <a:prstGeom prst="rect">
            <a:avLst/>
          </a:prstGeom>
          <a:solidFill>
            <a:srgbClr val="0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0" y="2743200"/>
            <a:ext cx="5973775" cy="1188720"/>
          </a:xfrm>
          <a:prstGeom prst="rect">
            <a:avLst/>
          </a:prstGeom>
          <a:solidFill>
            <a:srgbClr val="ECEAE4"/>
          </a:solidFill>
          <a:ln w="19050">
            <a:solidFill>
              <a:srgbClr val="0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Menlo"/>
              </a:rPr>
              <a:t>pipx install marrow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343400"/>
            <a:ext cx="101800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F7A6C"/>
                </a:solidFill>
                <a:latin typeface="Helvetica Neue"/>
              </a:rPr>
              <a:t>Works with pytest, Jest, go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800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Helvetica Neue"/>
              </a:rPr>
              <a:t>Big test suites hide their gaps.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4327" y="1874519"/>
            <a:ext cx="1463040" cy="63500"/>
          </a:xfrm>
          <a:prstGeom prst="rect">
            <a:avLst/>
          </a:prstGeom>
          <a:solidFill>
            <a:srgbClr val="0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3409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</a:pPr>
            <a:r>
              <a:rPr sz="2200" b="0">
                <a:solidFill>
                  <a:srgbClr val="1A1A1A"/>
                </a:solidFill>
                <a:latin typeface="Helvetica Neue"/>
              </a:rPr>
              <a:t>Large suites are slow, and nobody knows which tests cover which code.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</a:pPr>
            <a:r>
              <a:rPr sz="2200" b="0">
                <a:solidFill>
                  <a:srgbClr val="5F5C57"/>
                </a:solidFill>
                <a:latin typeface="Helvetica Neue"/>
              </a:rPr>
              <a:t>Dead tests linger for years, quietly costing minutes on every run.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</a:pPr>
            <a:r>
              <a:rPr sz="2200" b="0">
                <a:solidFill>
                  <a:srgbClr val="5F5C57"/>
                </a:solidFill>
                <a:latin typeface="Helvetica Neue"/>
              </a:rPr>
              <a:t>Real gaps go unnoticed until something breaks in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800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Helvetica Neue"/>
              </a:rPr>
              <a:t>Watch one run. Draw the real 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4327" y="1874519"/>
            <a:ext cx="1463040" cy="63500"/>
          </a:xfrm>
          <a:prstGeom prst="rect">
            <a:avLst/>
          </a:prstGeom>
          <a:solidFill>
            <a:srgbClr val="0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53409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0"/>
              </a:spcAft>
            </a:pPr>
            <a:r>
              <a:rPr sz="2800" b="0">
                <a:solidFill>
                  <a:srgbClr val="1A1A1A"/>
                </a:solidFill>
                <a:latin typeface="Helvetica Neue"/>
              </a:rPr>
              <a:t>Marrow instruments a single test run and produces a test→code coverage map.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F7A6C"/>
                </a:solidFill>
                <a:latin typeface="Helvetica Neue"/>
              </a:rPr>
              <a:t>No annotations. No config. No rewriting your 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800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Helvetica Neue"/>
              </a:rPr>
              <a:t>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4327" y="1874519"/>
            <a:ext cx="1463040" cy="63500"/>
          </a:xfrm>
          <a:prstGeom prst="rect">
            <a:avLst/>
          </a:prstGeom>
          <a:solidFill>
            <a:srgbClr val="0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697480"/>
            <a:ext cx="853409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2800" b="0">
                <a:solidFill>
                  <a:srgbClr val="1A1A1A"/>
                </a:solidFill>
                <a:latin typeface="Helvetica Neue"/>
              </a:rPr>
              <a:t>Test suites have outgrown the humans who maintain them.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5F5C57"/>
                </a:solidFill>
                <a:latin typeface="Helvetica Neue"/>
              </a:rPr>
              <a:t>A modern repo ships thousands of tests across years of contributors.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5F5C57"/>
                </a:solidFill>
                <a:latin typeface="Helvetica Neue"/>
              </a:rPr>
              <a:t>Coverage percentages say how much code is covered — never by which test.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5F5C57"/>
                </a:solidFill>
                <a:latin typeface="Helvetica Neue"/>
              </a:rPr>
              <a:t>Tracking that map by hand stopped being possible; it has to be measured.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800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Helvetica Neue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4327" y="1874519"/>
            <a:ext cx="1463040" cy="63500"/>
          </a:xfrm>
          <a:prstGeom prst="rect">
            <a:avLst/>
          </a:prstGeom>
          <a:solidFill>
            <a:srgbClr val="0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327" y="26060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7A6C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327" y="3383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Helvetica Neue"/>
              </a:rPr>
              <a:t>Run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397763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F5C57"/>
                </a:solidFill>
                <a:latin typeface="Menlo"/>
              </a:rPr>
              <a:t>marrow watch -- &lt;your test cmd&gt;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647" y="26060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7A6C"/>
                </a:solidFill>
                <a:latin typeface="Helvetica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647" y="3383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Helvetica Neue"/>
              </a:rPr>
              <a:t>Marrow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397763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F5C57"/>
                </a:solidFill>
                <a:latin typeface="Helvetica Neue"/>
              </a:rPr>
              <a:t>which lines each test exercised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26060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7A6C"/>
                </a:solidFill>
                <a:latin typeface="Helvetica Neu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967" y="3383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Helvetica Neue"/>
              </a:rPr>
              <a:t>You get a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8967" y="397763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F5C57"/>
                </a:solidFill>
                <a:latin typeface="Helvetica Neue"/>
              </a:rPr>
              <a:t>interactive map + dead tests + untested 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