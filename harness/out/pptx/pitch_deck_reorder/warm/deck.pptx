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800"/>
              </a:spcAft>
            </a:pPr>
            <a:r>
              <a:rPr sz="8800" b="1">
                <a:solidFill>
                  <a:srgbClr val="E8ECF2"/>
                </a:solidFill>
                <a:latin typeface="Helvetica Neue"/>
              </a:rPr>
              <a:t>Marrow</a:t>
            </a:r>
          </a:p>
          <a:p>
            <a:pPr algn="ctr">
              <a:spcAft>
                <a:spcPts val="1000"/>
              </a:spcAft>
            </a:pPr>
            <a:r>
              <a:rPr sz="3200" b="0">
                <a:solidFill>
                  <a:srgbClr val="4FD1C5"/>
                </a:solidFill>
                <a:latin typeface="Helvetica Neue"/>
              </a:rPr>
              <a:t>Know what your tests actually cover.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541264" y="4297680"/>
            <a:ext cx="1097280" cy="762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005840" cy="762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800"/>
              </a:spcAft>
            </a:pPr>
            <a:r>
              <a:rPr sz="5200" b="1">
                <a:solidFill>
                  <a:srgbClr val="E8ECF2"/>
                </a:solidFill>
                <a:latin typeface="Helvetica Neue"/>
              </a:rPr>
              <a:t>Install Marrow</a:t>
            </a:r>
          </a:p>
          <a:p>
            <a:pPr algn="l">
              <a:spcAft>
                <a:spcPts val="2800"/>
              </a:spcAft>
            </a:pPr>
            <a:r>
              <a:rPr sz="4000" b="1">
                <a:solidFill>
                  <a:srgbClr val="4FD1C5"/>
                </a:solidFill>
                <a:latin typeface="Menlo"/>
              </a:rPr>
              <a:t>pipx install marrow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9AA6B8"/>
                </a:solidFill>
                <a:latin typeface="Helvetica Neue"/>
              </a:rPr>
              <a:t>Works with pytest, Jest, and go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005840" cy="762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0"/>
              </a:spcAft>
            </a:pPr>
            <a:r>
              <a:rPr sz="4600" b="1">
                <a:solidFill>
                  <a:srgbClr val="E8ECF2"/>
                </a:solidFill>
                <a:latin typeface="Helvetica Neue"/>
              </a:rPr>
              <a:t>Big test suites hide their gaps.</a:t>
            </a:r>
          </a:p>
          <a:p>
            <a:pPr algn="l">
              <a:spcAft>
                <a:spcPts val="1600"/>
              </a:spcAft>
            </a:pPr>
            <a:r>
              <a:rPr sz="2600" b="0">
                <a:solidFill>
                  <a:srgbClr val="E8ECF2"/>
                </a:solidFill>
                <a:latin typeface="Helvetica Neue"/>
              </a:rPr>
              <a:t>Large suites are slow, and nobody knows which tests cover which code.</a:t>
            </a:r>
          </a:p>
          <a:p>
            <a:pPr algn="l">
              <a:spcAft>
                <a:spcPts val="1600"/>
              </a:spcAft>
            </a:pPr>
            <a:r>
              <a:rPr sz="2600" b="0">
                <a:solidFill>
                  <a:srgbClr val="E8ECF2"/>
                </a:solidFill>
                <a:latin typeface="Helvetica Neue"/>
              </a:rPr>
              <a:t>Dead tests linger, quietly wasting every run.</a:t>
            </a:r>
          </a:p>
          <a:p>
            <a:pPr algn="l">
              <a:spcAft>
                <a:spcPts val="1600"/>
              </a:spcAft>
            </a:pPr>
            <a:r>
              <a:rPr sz="2600" b="0">
                <a:solidFill>
                  <a:srgbClr val="E8ECF2"/>
                </a:solidFill>
                <a:latin typeface="Helvetica Neue"/>
              </a:rPr>
              <a:t>Real coverage gaps go unnoticed until something breaks.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005840" cy="762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0"/>
              </a:spcAft>
            </a:pPr>
            <a:r>
              <a:rPr sz="4600" b="1">
                <a:solidFill>
                  <a:srgbClr val="E8ECF2"/>
                </a:solidFill>
                <a:latin typeface="Helvetica Neue"/>
              </a:rPr>
              <a:t>Watch one run. Draw the real map.</a:t>
            </a:r>
          </a:p>
          <a:p>
            <a:pPr algn="l">
              <a:spcAft>
                <a:spcPts val="1800"/>
              </a:spcAft>
            </a:pPr>
            <a:r>
              <a:rPr sz="2800" b="0">
                <a:solidFill>
                  <a:srgbClr val="E8ECF2"/>
                </a:solidFill>
                <a:latin typeface="Helvetica Neue"/>
              </a:rPr>
              <a:t>Marrow instruments a single test run and produces a test → code coverage map.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4FD1C5"/>
                </a:solidFill>
                <a:latin typeface="Helvetica Neue"/>
              </a:rPr>
              <a:t>No annotations. No config.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005840" cy="762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0"/>
              </a:spcAft>
            </a:pPr>
            <a:r>
              <a:rPr sz="4600" b="1">
                <a:solidFill>
                  <a:srgbClr val="E8ECF2"/>
                </a:solidFill>
                <a:latin typeface="Helvetica Neue"/>
              </a:rPr>
              <a:t>Why now</a:t>
            </a:r>
          </a:p>
          <a:p>
            <a:pPr algn="l">
              <a:spcAft>
                <a:spcPts val="1800"/>
              </a:spcAft>
            </a:pPr>
            <a:r>
              <a:rPr sz="2800" b="0">
                <a:solidFill>
                  <a:srgbClr val="E8ECF2"/>
                </a:solidFill>
                <a:latin typeface="Helvetica Neue"/>
              </a:rPr>
              <a:t>Test suites have grown into the thousands — too large to hold in anyone's head.</a:t>
            </a:r>
          </a:p>
          <a:p>
            <a:pPr algn="l">
              <a:spcAft>
                <a:spcPts val="1800"/>
              </a:spcAft>
            </a:pPr>
            <a:r>
              <a:rPr sz="2800" b="0">
                <a:solidFill>
                  <a:srgbClr val="E8ECF2"/>
                </a:solidFill>
                <a:latin typeface="Helvetica Neue"/>
              </a:rPr>
              <a:t>Manual coverage tracking has become untenable; spreadsheets and guesswork no longer scale.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4FD1C5"/>
                </a:solidFill>
                <a:latin typeface="Helvetica Neue"/>
              </a:rPr>
              <a:t>The map has to be generated automatically — that's the only way it stays true.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005840" cy="762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0"/>
              </a:spcAft>
            </a:pPr>
            <a:r>
              <a:rPr sz="4600" b="1">
                <a:solidFill>
                  <a:srgbClr val="E8ECF2"/>
                </a:solidFill>
                <a:latin typeface="Helvetica Neue"/>
              </a:rPr>
              <a:t>How it works</a:t>
            </a:r>
          </a:p>
          <a:p>
            <a:pPr>
              <a:spcAft>
                <a:spcPts val="1800"/>
              </a:spcAft>
            </a:pPr>
            <a:r>
              <a:rPr sz="2600" b="1">
                <a:solidFill>
                  <a:srgbClr val="4FD1C5"/>
                </a:solidFill>
                <a:latin typeface="Helvetica Neue"/>
              </a:rPr>
              <a:t>1  </a:t>
            </a:r>
            <a:r>
              <a:rPr sz="2600" b="1">
                <a:solidFill>
                  <a:srgbClr val="E8ECF2"/>
                </a:solidFill>
                <a:latin typeface="Helvetica Neue"/>
              </a:rPr>
              <a:t>Run — </a:t>
            </a:r>
            <a:r>
              <a:rPr sz="2400">
                <a:solidFill>
                  <a:srgbClr val="9AA6B8"/>
                </a:solidFill>
                <a:latin typeface="Menlo"/>
              </a:rPr>
              <a:t>marrow watch -- &lt;your test cmd&gt;</a:t>
            </a:r>
          </a:p>
          <a:p>
            <a:pPr>
              <a:spcAft>
                <a:spcPts val="1800"/>
              </a:spcAft>
            </a:pPr>
            <a:r>
              <a:rPr sz="2600" b="1">
                <a:solidFill>
                  <a:srgbClr val="4FD1C5"/>
                </a:solidFill>
                <a:latin typeface="Helvetica Neue"/>
              </a:rPr>
              <a:t>2  </a:t>
            </a:r>
            <a:r>
              <a:rPr sz="2600" b="1">
                <a:solidFill>
                  <a:srgbClr val="E8ECF2"/>
                </a:solidFill>
                <a:latin typeface="Helvetica Neue"/>
              </a:rPr>
              <a:t>Record — </a:t>
            </a:r>
            <a:r>
              <a:rPr sz="2400">
                <a:solidFill>
                  <a:srgbClr val="E8ECF2"/>
                </a:solidFill>
                <a:latin typeface="Helvetica Neue"/>
              </a:rPr>
              <a:t>Marrow captures which lines each test exercised.</a:t>
            </a:r>
          </a:p>
          <a:p>
            <a:pPr>
              <a:spcAft>
                <a:spcPts val="1800"/>
              </a:spcAft>
            </a:pPr>
            <a:r>
              <a:rPr sz="2600" b="1">
                <a:solidFill>
                  <a:srgbClr val="4FD1C5"/>
                </a:solidFill>
                <a:latin typeface="Helvetica Neue"/>
              </a:rPr>
              <a:t>3  </a:t>
            </a:r>
            <a:r>
              <a:rPr sz="2600" b="1">
                <a:solidFill>
                  <a:srgbClr val="E8ECF2"/>
                </a:solidFill>
                <a:latin typeface="Helvetica Neue"/>
              </a:rPr>
              <a:t>Map — </a:t>
            </a:r>
            <a:r>
              <a:rPr sz="2400">
                <a:solidFill>
                  <a:srgbClr val="E8ECF2"/>
                </a:solidFill>
                <a:latin typeface="Helvetica Neue"/>
              </a:rPr>
              <a:t>It emits an interactive map plus dead tests and untested 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