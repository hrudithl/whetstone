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200400"/>
            <a:ext cx="7406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1B1B1E"/>
                </a:solidFill>
                <a:latin typeface="Consolas"/>
              </a:rPr>
              <a:t>Marrow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4526280"/>
            <a:ext cx="201168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029200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6B6B73"/>
                </a:solidFill>
                <a:latin typeface="Consolas"/>
              </a:rPr>
              <a:t>Know what your tests actually cover.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C2410C"/>
                </a:solidFill>
                <a:latin typeface="Consolas"/>
              </a:rPr>
              <a:t>$ marrow watch -- pytest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836676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73"/>
                </a:solidFill>
                <a:latin typeface="Consolas"/>
              </a:rPr>
              <a:t>a CLI that maps tests to the code they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B1B1E"/>
                </a:solidFill>
                <a:latin typeface="Consolas"/>
              </a:rPr>
              <a:t>Big test suites hide their gaps.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874519"/>
            <a:ext cx="14630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36676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6B6B73"/>
                </a:solidFill>
                <a:latin typeface="Consolas"/>
              </a:rPr>
              <a:t>the problem</a:t>
            </a:r>
            <a:r>
              <a:rPr sz="1050">
                <a:solidFill>
                  <a:srgbClr val="6B6B73"/>
                </a:solidFill>
                <a:latin typeface="Consolas"/>
              </a:rPr>
              <a:t>   ·   </a:t>
            </a:r>
            <a:r>
              <a:rPr sz="1050">
                <a:solidFill>
                  <a:srgbClr val="C2410C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7406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0"/>
              </a:spcAft>
            </a:pPr>
            <a:r>
              <a:rPr sz="2000" b="0">
                <a:solidFill>
                  <a:srgbClr val="1B1B1E"/>
                </a:solidFill>
                <a:latin typeface="Consolas"/>
              </a:rPr>
              <a:t>Large suites are slow, and nobody knows</a:t>
            </a:r>
          </a:p>
          <a:p>
            <a:pPr algn="l">
              <a:lnSpc>
                <a:spcPct val="135000"/>
              </a:lnSpc>
              <a:spcAft>
                <a:spcPts val="2000"/>
              </a:spcAft>
            </a:pPr>
            <a:r>
              <a:rPr sz="2000" b="0">
                <a:solidFill>
                  <a:srgbClr val="1B1B1E"/>
                </a:solidFill>
                <a:latin typeface="Consolas"/>
              </a:rPr>
              <a:t>which tests cover which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315968"/>
            <a:ext cx="201168" cy="1143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6903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B1B1E"/>
                </a:solidFill>
                <a:latin typeface="Consolas"/>
              </a:rPr>
              <a:t>Dead tests linger.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17136"/>
            <a:ext cx="6903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6B6B73"/>
                </a:solidFill>
                <a:latin typeface="Consolas"/>
              </a:rPr>
              <a:t>They pass forever and guard nothing.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367528"/>
            <a:ext cx="201168" cy="1143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257800"/>
            <a:ext cx="6903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B1B1E"/>
                </a:solidFill>
                <a:latin typeface="Consolas"/>
              </a:rPr>
              <a:t>Real gaps go unnoticed.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68696"/>
            <a:ext cx="6903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6B6B73"/>
                </a:solidFill>
                <a:latin typeface="Consolas"/>
              </a:rPr>
              <a:t>A green run says little about coverage.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6419088"/>
            <a:ext cx="201168" cy="1143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09360"/>
            <a:ext cx="6903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B1B1E"/>
                </a:solidFill>
                <a:latin typeface="Consolas"/>
              </a:rPr>
              <a:t>Slow feedback.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20256"/>
            <a:ext cx="6903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6B6B73"/>
                </a:solidFill>
                <a:latin typeface="Consolas"/>
              </a:rPr>
              <a:t>Everything runs because nothing is mapped.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B1B1E"/>
                </a:solidFill>
                <a:latin typeface="Consolas"/>
              </a:rPr>
              <a:t>Watch one run. Draw the real 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874519"/>
            <a:ext cx="14630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36676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6B6B73"/>
                </a:solidFill>
                <a:latin typeface="Consolas"/>
              </a:rPr>
              <a:t>the idea</a:t>
            </a:r>
            <a:r>
              <a:rPr sz="1050">
                <a:solidFill>
                  <a:srgbClr val="6B6B73"/>
                </a:solidFill>
                <a:latin typeface="Consolas"/>
              </a:rPr>
              <a:t>   ·   </a:t>
            </a:r>
            <a:r>
              <a:rPr sz="1050">
                <a:solidFill>
                  <a:srgbClr val="C2410C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7406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1B1B1E"/>
                </a:solidFill>
                <a:latin typeface="Consolas"/>
              </a:rPr>
              <a:t>Marrow instruments a single test run and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1B1B1E"/>
                </a:solidFill>
                <a:latin typeface="Consolas"/>
              </a:rPr>
              <a:t>produces a test → code coverage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754880"/>
            <a:ext cx="7406640" cy="1920240"/>
          </a:xfrm>
          <a:prstGeom prst="roundRect">
            <a:avLst>
              <a:gd name="adj" fmla="val 8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F6F5F2"/>
                </a:solidFill>
                <a:latin typeface="Consolas"/>
              </a:rPr>
              <a:t>no annotations</a:t>
            </a:r>
          </a:p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F6F5F2"/>
                </a:solidFill>
                <a:latin typeface="Consolas"/>
              </a:rPr>
              <a:t>no config</a:t>
            </a:r>
          </a:p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one run, the whole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713232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6B6B73"/>
                </a:solidFill>
                <a:latin typeface="Consolas"/>
              </a:rPr>
              <a:t>Point it at the test command you already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B1B1E"/>
                </a:solidFill>
                <a:latin typeface="Consolas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874519"/>
            <a:ext cx="14630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36676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6B6B73"/>
                </a:solidFill>
                <a:latin typeface="Consolas"/>
              </a:rPr>
              <a:t>how it works</a:t>
            </a:r>
            <a:r>
              <a:rPr sz="1050">
                <a:solidFill>
                  <a:srgbClr val="6B6B73"/>
                </a:solidFill>
                <a:latin typeface="Consolas"/>
              </a:rPr>
              <a:t>   ·   </a:t>
            </a:r>
            <a:r>
              <a:rPr sz="1050">
                <a:solidFill>
                  <a:srgbClr val="C2410C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2410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971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B1B1E"/>
                </a:solidFill>
                <a:latin typeface="Consolas"/>
              </a:rPr>
              <a:t>Run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3474720"/>
            <a:ext cx="6400800" cy="566928"/>
          </a:xfrm>
          <a:prstGeom prst="roundRect">
            <a:avLst>
              <a:gd name="adj" fmla="val 8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>
                <a:solidFill>
                  <a:srgbClr val="C2410C"/>
                </a:solidFill>
                <a:latin typeface="Consolas"/>
              </a:rPr>
              <a:t>$ </a:t>
            </a:r>
            <a:r>
              <a:rPr sz="1500">
                <a:solidFill>
                  <a:srgbClr val="F6F5F2"/>
                </a:solidFill>
                <a:latin typeface="Consolas"/>
              </a:rPr>
              <a:t>marrow watch -- &lt;your test cmd&gt;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2410C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4617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B1B1E"/>
                </a:solidFill>
                <a:latin typeface="Consolas"/>
              </a:rPr>
              <a:t>It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513892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6B6B73"/>
                </a:solidFill>
                <a:latin typeface="Consolas"/>
              </a:rPr>
              <a:t>which lines each test exercised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179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2410C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6263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B1B1E"/>
                </a:solidFill>
                <a:latin typeface="Consolas"/>
              </a:rPr>
              <a:t>It emits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678484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6B6B73"/>
                </a:solidFill>
                <a:latin typeface="Consolas"/>
              </a:rPr>
              <a:t>an interactive map + dead tests + untested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7863840"/>
            <a:ext cx="7406640" cy="19050"/>
          </a:xfrm>
          <a:prstGeom prst="rect">
            <a:avLst/>
          </a:prstGeom>
          <a:solidFill>
            <a:srgbClr val="DD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B1B1E"/>
                </a:solidFill>
                <a:latin typeface="Consolas"/>
              </a:rPr>
              <a:t>Install Marrow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874519"/>
            <a:ext cx="14630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36676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6B6B73"/>
                </a:solidFill>
                <a:latin typeface="Consolas"/>
              </a:rPr>
              <a:t>get started</a:t>
            </a:r>
            <a:r>
              <a:rPr sz="1050">
                <a:solidFill>
                  <a:srgbClr val="6B6B73"/>
                </a:solidFill>
                <a:latin typeface="Consolas"/>
              </a:rPr>
              <a:t>   ·   </a:t>
            </a:r>
            <a:r>
              <a:rPr sz="1050">
                <a:solidFill>
                  <a:srgbClr val="C2410C"/>
                </a:solidFill>
                <a:latin typeface="Consola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657600"/>
            <a:ext cx="7406640" cy="1371600"/>
          </a:xfrm>
          <a:prstGeom prst="roundRect">
            <a:avLst>
              <a:gd name="adj" fmla="val 8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 b="1">
                <a:solidFill>
                  <a:srgbClr val="C2410C"/>
                </a:solidFill>
                <a:latin typeface="Consolas"/>
              </a:rPr>
              <a:t>$ </a:t>
            </a:r>
            <a:r>
              <a:rPr sz="2700" b="1">
                <a:solidFill>
                  <a:srgbClr val="F6F5F2"/>
                </a:solidFill>
                <a:latin typeface="Consolas"/>
              </a:rPr>
              <a:t>pipx install marrow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7406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1B1B1E"/>
                </a:solidFill>
                <a:latin typeface="Consolas"/>
              </a:rPr>
              <a:t>Works with pytest, Jest, go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6492240"/>
            <a:ext cx="14630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694944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6B6B73"/>
                </a:solidFill>
                <a:latin typeface="Consolas"/>
              </a:rPr>
              <a:t>Know what your tests actually cover.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