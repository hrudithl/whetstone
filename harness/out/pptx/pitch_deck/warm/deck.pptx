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4287F5"/>
                </a:solidFill>
                <a:latin typeface="Consolas"/>
              </a:defRPr>
            </a:pPr>
            <a:r>
              <a:t>Marrow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DCDCDC"/>
                </a:solidFill>
                <a:latin typeface="Consolas"/>
              </a:defRPr>
            </a:pPr>
            <a:r>
              <a:t>Know what your tests actually cover.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4287F5"/>
                </a:solidFill>
                <a:latin typeface="Consolas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1828800" cy="0"/>
          </a:xfrm>
          <a:prstGeom prst="rect">
            <a:avLst/>
          </a:prstGeom>
          <a:ln w="25400">
            <a:solidFill>
              <a:srgbClr val="428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68096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DCDCDC"/>
                </a:solidFill>
                <a:latin typeface="Consolas"/>
              </a:defRPr>
            </a:pPr>
            <a:r>
              <a:t>Big test suites hide their gaps.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DCDCDC"/>
                </a:solidFill>
                <a:latin typeface="Consolas"/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DCDCDC"/>
                </a:solidFill>
                <a:latin typeface="Consolas"/>
              </a:defRPr>
            </a:pPr>
            <a:r>
              <a:t>Large suites are slow and nobody knows which tests cover which code, so dead tests linger and real gaps go unnoticed.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4287F5"/>
                </a:solidFill>
                <a:latin typeface="Consolas"/>
              </a:defRPr>
            </a:pPr>
            <a:r>
              <a:t>The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1828800" cy="0"/>
          </a:xfrm>
          <a:prstGeom prst="rect">
            <a:avLst/>
          </a:prstGeom>
          <a:ln w="25400">
            <a:solidFill>
              <a:srgbClr val="428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68096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DCDCDC"/>
                </a:solidFill>
                <a:latin typeface="Consolas"/>
              </a:defRPr>
            </a:pPr>
            <a:r>
              <a:t>Watch one run. Draw the real map.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DCDCDC"/>
                </a:solidFill>
                <a:latin typeface="Consolas"/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DCDCDC"/>
                </a:solidFill>
                <a:latin typeface="Consolas"/>
              </a:defRPr>
            </a:pPr>
            <a:r>
              <a:t>Marrow instruments a single test run and produces a test→code coverage map — no annotations, no config.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4287F5"/>
                </a:solidFill>
                <a:latin typeface="Consolas"/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1828800" cy="0"/>
          </a:xfrm>
          <a:prstGeom prst="rect">
            <a:avLst/>
          </a:prstGeom>
          <a:ln w="25400">
            <a:solidFill>
              <a:srgbClr val="428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768096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DCDCDC"/>
                </a:solidFill>
                <a:latin typeface="Consolas"/>
              </a:defRPr>
            </a:pPr>
            <a:r>
              <a:t>1. Run: marrow watch -- &lt;your test cmd&gt;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DCDCDC"/>
                </a:solidFill>
                <a:latin typeface="Consolas"/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DCDCDC"/>
                </a:solidFill>
                <a:latin typeface="Consolas"/>
              </a:defRPr>
            </a:pPr>
            <a:r>
              <a:t>2. Marrow records which lines each test exercised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DCDCDC"/>
                </a:solidFill>
                <a:latin typeface="Consolas"/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2000">
                <a:solidFill>
                  <a:srgbClr val="DCDCDC"/>
                </a:solidFill>
                <a:latin typeface="Consolas"/>
              </a:defRPr>
            </a:pPr>
            <a:r>
              <a:t>3. Emits interactive map + list of dead tests and untested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4287F5"/>
                </a:solidFill>
                <a:latin typeface="Consolas"/>
              </a:defRPr>
            </a:pPr>
            <a:r>
              <a:t>Install Marrow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4287F5"/>
                </a:solidFill>
                <a:latin typeface="Consolas"/>
              </a:defRPr>
            </a:pPr>
            <a:r>
              <a:t>pipx install marrow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DCDCDC"/>
                </a:solidFill>
                <a:latin typeface="Consolas"/>
              </a:defRPr>
            </a:pPr>
            <a:r>
              <a:t>Works with pytest, Jest, go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