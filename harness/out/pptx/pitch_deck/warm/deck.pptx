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0"/>
            <a:ext cx="7498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7600" b="1">
                <a:solidFill>
                  <a:srgbClr val="1E1E1E"/>
                </a:solidFill>
                <a:latin typeface="Consolas"/>
              </a:rPr>
              <a:t>Marrow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0" y="4892040"/>
            <a:ext cx="1463040" cy="508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440680"/>
            <a:ext cx="7498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6B6762"/>
                </a:solidFill>
                <a:latin typeface="Consolas"/>
              </a:rPr>
              <a:t>Know what your tests actually cover.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7498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C2410C"/>
                </a:solidFill>
                <a:latin typeface="Consola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74980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800" b="1">
                <a:solidFill>
                  <a:srgbClr val="1E1E1E"/>
                </a:solidFill>
                <a:latin typeface="Consolas"/>
              </a:rPr>
              <a:t>Big test suites hide their gaps.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023360" y="3200400"/>
            <a:ext cx="1097280" cy="508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3931920"/>
            <a:ext cx="658368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Consolas"/>
              </a:rPr>
              <a:t>Large suites are slow, and nobody knows which tests cover which code.</a:t>
            </a:r>
          </a:p>
          <a:p>
            <a:pPr algn="ctr">
              <a:lnSpc>
                <a:spcPct val="140000"/>
              </a:lnSpc>
              <a:spcBef>
                <a:spcPts val="2600"/>
              </a:spcBef>
              <a:spcAft>
                <a:spcPts val="0"/>
              </a:spcAft>
            </a:pPr>
            <a:r>
              <a:rPr sz="2000" b="0">
                <a:solidFill>
                  <a:srgbClr val="6B6762"/>
                </a:solidFill>
                <a:latin typeface="Consolas"/>
              </a:rPr>
              <a:t>So dead tests linger — and real gaps go unnoticed.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7498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C2410C"/>
                </a:solidFill>
                <a:latin typeface="Consolas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74980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800" b="1">
                <a:solidFill>
                  <a:srgbClr val="1E1E1E"/>
                </a:solidFill>
                <a:latin typeface="Consolas"/>
              </a:rPr>
              <a:t>Watch one run.
Draw the real map.</a:t>
            </a:r>
          </a:p>
        </p:txBody>
      </p:sp>
      <p:sp>
        <p:nvSpPr>
          <p:cNvPr id="4" name="Rectangle 3"/>
          <p:cNvSpPr/>
          <p:nvPr/>
        </p:nvSpPr>
        <p:spPr>
          <a:xfrm>
            <a:off x="4023360" y="3840480"/>
            <a:ext cx="1097280" cy="508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572000"/>
            <a:ext cx="65836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Consolas"/>
              </a:rPr>
              <a:t>Marrow instruments a single test run and produces a test→code coverage map.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7498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C2410C"/>
                </a:solidFill>
                <a:latin typeface="Consolas"/>
              </a:rPr>
              <a:t>No annotations. No config.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7498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C2410C"/>
                </a:solidFill>
                <a:latin typeface="Consolas"/>
              </a:rPr>
              <a:t>THREE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74980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800" b="1">
                <a:solidFill>
                  <a:srgbClr val="1E1E1E"/>
                </a:solidFill>
                <a:latin typeface="Consolas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023360" y="2926080"/>
            <a:ext cx="1097280" cy="508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6576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C2410C"/>
                </a:solidFill>
                <a:latin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3657600"/>
            <a:ext cx="62179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E1E1E"/>
                </a:solidFill>
                <a:latin typeface="Consolas"/>
              </a:rPr>
              <a:t>Run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0">
                <a:solidFill>
                  <a:srgbClr val="6B6762"/>
                </a:solidFill>
                <a:latin typeface="Consolas"/>
              </a:rPr>
              <a:t>marrow watch -- &lt;your test cmd&gt;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0749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C2410C"/>
                </a:solidFill>
                <a:latin typeface="Consola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074920"/>
            <a:ext cx="62179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E1E1E"/>
                </a:solidFill>
                <a:latin typeface="Consolas"/>
              </a:rPr>
              <a:t>Record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0">
                <a:solidFill>
                  <a:srgbClr val="6B6762"/>
                </a:solidFill>
                <a:latin typeface="Consolas"/>
              </a:rPr>
              <a:t>Marrow records which lines each test exercised.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64922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C2410C"/>
                </a:solidFill>
                <a:latin typeface="Consola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6492240"/>
            <a:ext cx="62179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E1E1E"/>
                </a:solidFill>
                <a:latin typeface="Consolas"/>
              </a:rPr>
              <a:t>Map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0">
                <a:solidFill>
                  <a:srgbClr val="6B6762"/>
                </a:solidFill>
                <a:latin typeface="Consolas"/>
              </a:rPr>
              <a:t>It emits an interactive map plus a list of dead tests
and untested lines.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834640"/>
            <a:ext cx="7498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1E1E1E"/>
                </a:solidFill>
                <a:latin typeface="Consolas"/>
              </a:rPr>
              <a:t>Install Marrow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0" y="3977639"/>
            <a:ext cx="1463040" cy="508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0" y="4663440"/>
            <a:ext cx="5852160" cy="1143000"/>
          </a:xfrm>
          <a:prstGeom prst="rect">
            <a:avLst/>
          </a:prstGeom>
          <a:solidFill>
            <a:srgbClr val="ECE8E1"/>
          </a:solidFill>
          <a:ln w="15875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Consolas"/>
              </a:rPr>
              <a:t>pipx install marrow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7498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6B6762"/>
                </a:solidFill>
                <a:latin typeface="Consolas"/>
              </a:rPr>
              <a:t>Works with pytest, Jest, go test.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