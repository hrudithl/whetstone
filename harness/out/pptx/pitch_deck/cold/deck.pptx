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0" b="1">
                <a:solidFill>
                  <a:srgbClr val="1A1A1F"/>
                </a:solidFill>
                <a:latin typeface="Arial"/>
              </a:rPr>
              <a:t>Marrow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55767" y="3767328"/>
            <a:ext cx="1280160" cy="444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600" b="0">
                <a:solidFill>
                  <a:srgbClr val="4A4A55"/>
                </a:solidFill>
                <a:latin typeface="Arial"/>
              </a:rPr>
              <a:t>Know what your tests actually cover.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0">
                <a:solidFill>
                  <a:srgbClr val="9A9AA4"/>
                </a:solidFill>
                <a:latin typeface="Arial"/>
              </a:rPr>
              <a:t>A CLI that maps a repo's tests to the code they 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C2410C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4000" b="1">
                <a:solidFill>
                  <a:srgbClr val="1A1A1F"/>
                </a:solidFill>
                <a:latin typeface="Arial"/>
              </a:rPr>
              <a:t>Big test suites hide their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92927" y="2148840"/>
            <a:ext cx="1005840" cy="444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2788920"/>
            <a:ext cx="8259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</a:pPr>
            <a:r>
              <a:rPr sz="2400" b="0">
                <a:solidFill>
                  <a:srgbClr val="4A4A55"/>
                </a:solidFill>
                <a:latin typeface="Arial"/>
              </a:rPr>
              <a:t>Large suites are slow, and nobody knows which tests cover which code.</a:t>
            </a:r>
          </a:p>
          <a:p>
            <a:pPr algn="ctr">
              <a:lnSpc>
                <a:spcPct val="135000"/>
              </a:lnSpc>
              <a:spcBef>
                <a:spcPts val="1800"/>
              </a:spcBef>
            </a:pPr>
            <a:r>
              <a:rPr sz="2400" b="0">
                <a:solidFill>
                  <a:srgbClr val="4A4A55"/>
                </a:solidFill>
                <a:latin typeface="Arial"/>
              </a:rPr>
              <a:t>So dead tests linger for years — and the real gaps go unnoticed.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9A9AA4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C2410C"/>
                </a:solidFill>
                <a:latin typeface="Arial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4000" b="1">
                <a:solidFill>
                  <a:srgbClr val="1A1A1F"/>
                </a:solidFill>
                <a:latin typeface="Arial"/>
              </a:rPr>
              <a:t>Watch one run. Draw the real map.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92927" y="2148840"/>
            <a:ext cx="1005840" cy="444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2788920"/>
            <a:ext cx="8259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</a:pPr>
            <a:r>
              <a:rPr sz="2400" b="0">
                <a:solidFill>
                  <a:srgbClr val="4A4A55"/>
                </a:solidFill>
                <a:latin typeface="Arial"/>
              </a:rPr>
              <a:t>Marrow instruments a single test run and produces a test → code coverage map.</a:t>
            </a:r>
          </a:p>
          <a:p>
            <a:pPr algn="ctr">
              <a:lnSpc>
                <a:spcPct val="135000"/>
              </a:lnSpc>
              <a:spcBef>
                <a:spcPts val="1800"/>
              </a:spcBef>
            </a:pPr>
            <a:r>
              <a:rPr sz="2400" b="1">
                <a:solidFill>
                  <a:srgbClr val="C2410C"/>
                </a:solidFill>
                <a:latin typeface="Arial"/>
              </a:rPr>
              <a:t>No annotations. No config.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9A9AA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C2410C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4000" b="1">
                <a:solidFill>
                  <a:srgbClr val="1A1A1F"/>
                </a:solidFill>
                <a:latin typeface="Arial"/>
              </a:rPr>
              <a:t>Three steps, one command.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592927" y="2148840"/>
            <a:ext cx="1005840" cy="444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271418" cy="2788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3108960"/>
            <a:ext cx="261305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C2410C"/>
                </a:solidFill>
                <a:latin typeface="Arial"/>
              </a:rPr>
              <a:t>01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900" b="1">
                <a:solidFill>
                  <a:srgbClr val="1A1A1F"/>
                </a:solidFill>
                <a:latin typeface="Arial"/>
              </a:rPr>
              <a:t>Run your suite through Marrow.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300" b="0">
                <a:solidFill>
                  <a:srgbClr val="C2410C"/>
                </a:solidFill>
                <a:latin typeface="Consolas"/>
              </a:rPr>
              <a:t>marrow watch -- &lt;your test cmd&gt;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0138" y="2743200"/>
            <a:ext cx="3271418" cy="2788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89322" y="3108960"/>
            <a:ext cx="261305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C2410C"/>
                </a:solidFill>
                <a:latin typeface="Arial"/>
              </a:rPr>
              <a:t>02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900" b="1">
                <a:solidFill>
                  <a:srgbClr val="1A1A1F"/>
                </a:solidFill>
                <a:latin typeface="Arial"/>
              </a:rPr>
              <a:t>Marrow records the work.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500" b="0">
                <a:solidFill>
                  <a:srgbClr val="4A4A55"/>
                </a:solidFill>
                <a:latin typeface="Arial"/>
              </a:rPr>
              <a:t>It captures which lines each individual test exercised, as it runs.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2743200"/>
            <a:ext cx="3271418" cy="2788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6500" y="3108960"/>
            <a:ext cx="261305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>
                <a:solidFill>
                  <a:srgbClr val="C2410C"/>
                </a:solidFill>
                <a:latin typeface="Arial"/>
              </a:rPr>
              <a:t>03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sz="1900" b="1">
                <a:solidFill>
                  <a:srgbClr val="1A1A1F"/>
                </a:solidFill>
                <a:latin typeface="Arial"/>
              </a:rPr>
              <a:t>You get the map.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500" b="0">
                <a:solidFill>
                  <a:srgbClr val="4A4A55"/>
                </a:solidFill>
                <a:latin typeface="Arial"/>
              </a:rPr>
              <a:t>An interactive test → code map, plus a list of dead tests and untested 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9A9AA4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C2410C"/>
                </a:solidFill>
                <a:latin typeface="Arial"/>
              </a:rPr>
              <a:t>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457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4800" b="1">
                <a:solidFill>
                  <a:srgbClr val="1A1A1F"/>
                </a:solidFill>
                <a:latin typeface="Arial"/>
              </a:rPr>
              <a:t>Install Marrow.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26967" y="2880360"/>
            <a:ext cx="4937760" cy="914400"/>
          </a:xfrm>
          <a:prstGeom prst="roundRect">
            <a:avLst>
              <a:gd name="adj" fmla="val 22000"/>
            </a:avLst>
          </a:prstGeom>
          <a:solidFill>
            <a:srgbClr val="1A1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400" b="1">
                <a:solidFill>
                  <a:srgbClr val="9A9AA4"/>
                </a:solidFill>
                <a:latin typeface="Consolas"/>
              </a:rPr>
              <a:t>$ </a:t>
            </a:r>
            <a:r>
              <a:rPr sz="2400" b="1">
                <a:solidFill>
                  <a:srgbClr val="FFFFFF"/>
                </a:solidFill>
                <a:latin typeface="Consolas"/>
              </a:rPr>
              <a:t>pipx install marrow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200" b="0">
                <a:solidFill>
                  <a:srgbClr val="4A4A55"/>
                </a:solidFill>
                <a:latin typeface="Arial"/>
              </a:rPr>
              <a:t>Works with pytest, Jest, and go test.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92927" y="5257800"/>
            <a:ext cx="1005840" cy="444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54335" y="619963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0">
                <a:solidFill>
                  <a:srgbClr val="9A9AA4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